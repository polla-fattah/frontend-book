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6" r:id="rId2"/>
    <p:sldId id="257" r:id="rId3"/>
  </p:sldIdLst>
  <p:sldSz cx="6858000" cy="9144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E272E"/>
    <a:srgbClr val="1B212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2803" autoAdjust="0"/>
    <p:restoredTop sz="94660"/>
  </p:normalViewPr>
  <p:slideViewPr>
    <p:cSldViewPr snapToGrid="0">
      <p:cViewPr varScale="1">
        <p:scale>
          <a:sx n="59" d="100"/>
          <a:sy n="59" d="100"/>
        </p:scale>
        <p:origin x="2698" y="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slide" Target="slides/slide2.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14350" y="1496484"/>
            <a:ext cx="5829300" cy="3183467"/>
          </a:xfrm>
        </p:spPr>
        <p:txBody>
          <a:bodyPr anchor="b"/>
          <a:lstStyle>
            <a:lvl1pPr algn="ctr">
              <a:defRPr sz="4500"/>
            </a:lvl1pPr>
          </a:lstStyle>
          <a:p>
            <a:r>
              <a:rPr lang="en-US"/>
              <a:t>Click to edit Master title style</a:t>
            </a:r>
            <a:endParaRPr lang="en-US" dirty="0"/>
          </a:p>
        </p:txBody>
      </p:sp>
      <p:sp>
        <p:nvSpPr>
          <p:cNvPr id="3" name="Subtitle 2"/>
          <p:cNvSpPr>
            <a:spLocks noGrp="1"/>
          </p:cNvSpPr>
          <p:nvPr>
            <p:ph type="subTitle" idx="1"/>
          </p:nvPr>
        </p:nvSpPr>
        <p:spPr>
          <a:xfrm>
            <a:off x="857250" y="4802717"/>
            <a:ext cx="5143500" cy="2207683"/>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A423862-3F52-459D-BB97-400A2FF529BA}" type="datetimeFigureOut">
              <a:rPr lang="en-US" smtClean="0"/>
              <a:t>2026-09-30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C0A8827-8173-478E-8027-31A736D41BAD}" type="slidenum">
              <a:rPr lang="en-US" smtClean="0"/>
              <a:t>‹#›</a:t>
            </a:fld>
            <a:endParaRPr lang="en-US"/>
          </a:p>
        </p:txBody>
      </p:sp>
    </p:spTree>
    <p:extLst>
      <p:ext uri="{BB962C8B-B14F-4D97-AF65-F5344CB8AC3E}">
        <p14:creationId xmlns:p14="http://schemas.microsoft.com/office/powerpoint/2010/main" val="42260476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A423862-3F52-459D-BB97-400A2FF529BA}" type="datetimeFigureOut">
              <a:rPr lang="en-US" smtClean="0"/>
              <a:t>2026-09-30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C0A8827-8173-478E-8027-31A736D41BAD}" type="slidenum">
              <a:rPr lang="en-US" smtClean="0"/>
              <a:t>‹#›</a:t>
            </a:fld>
            <a:endParaRPr lang="en-US"/>
          </a:p>
        </p:txBody>
      </p:sp>
    </p:spTree>
    <p:extLst>
      <p:ext uri="{BB962C8B-B14F-4D97-AF65-F5344CB8AC3E}">
        <p14:creationId xmlns:p14="http://schemas.microsoft.com/office/powerpoint/2010/main" val="13143412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67916" y="2279653"/>
            <a:ext cx="5915025" cy="3803649"/>
          </a:xfrm>
        </p:spPr>
        <p:txBody>
          <a:bodyPr anchor="b"/>
          <a:lstStyle>
            <a:lvl1pPr>
              <a:defRPr sz="4500"/>
            </a:lvl1pPr>
          </a:lstStyle>
          <a:p>
            <a:r>
              <a:rPr lang="en-US"/>
              <a:t>Click to edit Master title style</a:t>
            </a:r>
            <a:endParaRPr lang="en-US" dirty="0"/>
          </a:p>
        </p:txBody>
      </p:sp>
      <p:sp>
        <p:nvSpPr>
          <p:cNvPr id="3" name="Text Placeholder 2"/>
          <p:cNvSpPr>
            <a:spLocks noGrp="1"/>
          </p:cNvSpPr>
          <p:nvPr>
            <p:ph type="body" idx="1"/>
          </p:nvPr>
        </p:nvSpPr>
        <p:spPr>
          <a:xfrm>
            <a:off x="467916" y="6119286"/>
            <a:ext cx="5915025" cy="2000249"/>
          </a:xfrm>
        </p:spPr>
        <p:txBody>
          <a:bodyPr/>
          <a:lstStyle>
            <a:lvl1pPr marL="0" indent="0">
              <a:buNone/>
              <a:defRPr sz="1800">
                <a:solidFill>
                  <a:schemeClr val="tx1">
                    <a:tint val="82000"/>
                  </a:schemeClr>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A423862-3F52-459D-BB97-400A2FF529BA}" type="datetimeFigureOut">
              <a:rPr lang="en-US" smtClean="0"/>
              <a:t>2026-09-30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C0A8827-8173-478E-8027-31A736D41BAD}" type="slidenum">
              <a:rPr lang="en-US" smtClean="0"/>
              <a:t>‹#›</a:t>
            </a:fld>
            <a:endParaRPr lang="en-US"/>
          </a:p>
        </p:txBody>
      </p:sp>
    </p:spTree>
    <p:extLst>
      <p:ext uri="{BB962C8B-B14F-4D97-AF65-F5344CB8AC3E}">
        <p14:creationId xmlns:p14="http://schemas.microsoft.com/office/powerpoint/2010/main" val="7979285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471488" y="2434167"/>
            <a:ext cx="2914650" cy="580178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471863" y="2434167"/>
            <a:ext cx="2914650" cy="580178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A423862-3F52-459D-BB97-400A2FF529BA}" type="datetimeFigureOut">
              <a:rPr lang="en-US" smtClean="0"/>
              <a:t>2026-09-30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C0A8827-8173-478E-8027-31A736D41BAD}" type="slidenum">
              <a:rPr lang="en-US" smtClean="0"/>
              <a:t>‹#›</a:t>
            </a:fld>
            <a:endParaRPr lang="en-US"/>
          </a:p>
        </p:txBody>
      </p:sp>
    </p:spTree>
    <p:extLst>
      <p:ext uri="{BB962C8B-B14F-4D97-AF65-F5344CB8AC3E}">
        <p14:creationId xmlns:p14="http://schemas.microsoft.com/office/powerpoint/2010/main" val="1612439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72381" y="486836"/>
            <a:ext cx="5915025" cy="1767417"/>
          </a:xfrm>
        </p:spPr>
        <p:txBody>
          <a:bodyPr/>
          <a:lstStyle/>
          <a:p>
            <a:r>
              <a:rPr lang="en-US"/>
              <a:t>Click to edit Master title style</a:t>
            </a:r>
            <a:endParaRPr lang="en-US" dirty="0"/>
          </a:p>
        </p:txBody>
      </p:sp>
      <p:sp>
        <p:nvSpPr>
          <p:cNvPr id="3" name="Text Placeholder 2"/>
          <p:cNvSpPr>
            <a:spLocks noGrp="1"/>
          </p:cNvSpPr>
          <p:nvPr>
            <p:ph type="body" idx="1"/>
          </p:nvPr>
        </p:nvSpPr>
        <p:spPr>
          <a:xfrm>
            <a:off x="472381" y="2241551"/>
            <a:ext cx="2901255" cy="1098549"/>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72381" y="3340100"/>
            <a:ext cx="2901255" cy="491278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3471863" y="2241551"/>
            <a:ext cx="2915543" cy="1098549"/>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3471863" y="3340100"/>
            <a:ext cx="2915543" cy="491278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A423862-3F52-459D-BB97-400A2FF529BA}" type="datetimeFigureOut">
              <a:rPr lang="en-US" smtClean="0"/>
              <a:t>2026-09-30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C0A8827-8173-478E-8027-31A736D41BAD}" type="slidenum">
              <a:rPr lang="en-US" smtClean="0"/>
              <a:t>‹#›</a:t>
            </a:fld>
            <a:endParaRPr lang="en-US"/>
          </a:p>
        </p:txBody>
      </p:sp>
    </p:spTree>
    <p:extLst>
      <p:ext uri="{BB962C8B-B14F-4D97-AF65-F5344CB8AC3E}">
        <p14:creationId xmlns:p14="http://schemas.microsoft.com/office/powerpoint/2010/main" val="76464528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A423862-3F52-459D-BB97-400A2FF529BA}" type="datetimeFigureOut">
              <a:rPr lang="en-US" smtClean="0"/>
              <a:t>2026-09-30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C0A8827-8173-478E-8027-31A736D41BAD}" type="slidenum">
              <a:rPr lang="en-US" smtClean="0"/>
              <a:t>‹#›</a:t>
            </a:fld>
            <a:endParaRPr lang="en-US"/>
          </a:p>
        </p:txBody>
      </p:sp>
    </p:spTree>
    <p:extLst>
      <p:ext uri="{BB962C8B-B14F-4D97-AF65-F5344CB8AC3E}">
        <p14:creationId xmlns:p14="http://schemas.microsoft.com/office/powerpoint/2010/main" val="17386680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A423862-3F52-459D-BB97-400A2FF529BA}" type="datetimeFigureOut">
              <a:rPr lang="en-US" smtClean="0"/>
              <a:t>2026-09-30</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C0A8827-8173-478E-8027-31A736D41BAD}" type="slidenum">
              <a:rPr lang="en-US" smtClean="0"/>
              <a:t>‹#›</a:t>
            </a:fld>
            <a:endParaRPr lang="en-US"/>
          </a:p>
        </p:txBody>
      </p:sp>
    </p:spTree>
    <p:extLst>
      <p:ext uri="{BB962C8B-B14F-4D97-AF65-F5344CB8AC3E}">
        <p14:creationId xmlns:p14="http://schemas.microsoft.com/office/powerpoint/2010/main" val="42175123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609600"/>
            <a:ext cx="2211884" cy="2133600"/>
          </a:xfrm>
        </p:spPr>
        <p:txBody>
          <a:bodyPr anchor="b"/>
          <a:lstStyle>
            <a:lvl1pPr>
              <a:defRPr sz="2400"/>
            </a:lvl1pPr>
          </a:lstStyle>
          <a:p>
            <a:r>
              <a:rPr lang="en-US"/>
              <a:t>Click to edit Master title style</a:t>
            </a:r>
            <a:endParaRPr lang="en-US" dirty="0"/>
          </a:p>
        </p:txBody>
      </p:sp>
      <p:sp>
        <p:nvSpPr>
          <p:cNvPr id="3" name="Content Placeholder 2"/>
          <p:cNvSpPr>
            <a:spLocks noGrp="1"/>
          </p:cNvSpPr>
          <p:nvPr>
            <p:ph idx="1"/>
          </p:nvPr>
        </p:nvSpPr>
        <p:spPr>
          <a:xfrm>
            <a:off x="2915543" y="1316569"/>
            <a:ext cx="3471863" cy="6498167"/>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72381" y="2743200"/>
            <a:ext cx="2211884" cy="508211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8A423862-3F52-459D-BB97-400A2FF529BA}" type="datetimeFigureOut">
              <a:rPr lang="en-US" smtClean="0"/>
              <a:t>2026-09-30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C0A8827-8173-478E-8027-31A736D41BAD}" type="slidenum">
              <a:rPr lang="en-US" smtClean="0"/>
              <a:t>‹#›</a:t>
            </a:fld>
            <a:endParaRPr lang="en-US"/>
          </a:p>
        </p:txBody>
      </p:sp>
    </p:spTree>
    <p:extLst>
      <p:ext uri="{BB962C8B-B14F-4D97-AF65-F5344CB8AC3E}">
        <p14:creationId xmlns:p14="http://schemas.microsoft.com/office/powerpoint/2010/main" val="14863573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609600"/>
            <a:ext cx="2211884" cy="2133600"/>
          </a:xfrm>
        </p:spPr>
        <p:txBody>
          <a:bodyPr anchor="b"/>
          <a:lstStyle>
            <a:lvl1pP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2915543" y="1316569"/>
            <a:ext cx="3471863" cy="6498167"/>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472381" y="2743200"/>
            <a:ext cx="2211884" cy="508211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8A423862-3F52-459D-BB97-400A2FF529BA}" type="datetimeFigureOut">
              <a:rPr lang="en-US" smtClean="0"/>
              <a:t>2026-09-30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C0A8827-8173-478E-8027-31A736D41BAD}" type="slidenum">
              <a:rPr lang="en-US" smtClean="0"/>
              <a:t>‹#›</a:t>
            </a:fld>
            <a:endParaRPr lang="en-US"/>
          </a:p>
        </p:txBody>
      </p:sp>
    </p:spTree>
    <p:extLst>
      <p:ext uri="{BB962C8B-B14F-4D97-AF65-F5344CB8AC3E}">
        <p14:creationId xmlns:p14="http://schemas.microsoft.com/office/powerpoint/2010/main" val="2183708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A423862-3F52-459D-BB97-400A2FF529BA}" type="datetimeFigureOut">
              <a:rPr lang="en-US" smtClean="0"/>
              <a:t>2026-09-30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C0A8827-8173-478E-8027-31A736D41BAD}" type="slidenum">
              <a:rPr lang="en-US" smtClean="0"/>
              <a:t>‹#›</a:t>
            </a:fld>
            <a:endParaRPr lang="en-US"/>
          </a:p>
        </p:txBody>
      </p:sp>
    </p:spTree>
    <p:extLst>
      <p:ext uri="{BB962C8B-B14F-4D97-AF65-F5344CB8AC3E}">
        <p14:creationId xmlns:p14="http://schemas.microsoft.com/office/powerpoint/2010/main" val="17990238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907757" y="486834"/>
            <a:ext cx="1478756" cy="7749117"/>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471488" y="486834"/>
            <a:ext cx="4350544" cy="77491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A423862-3F52-459D-BB97-400A2FF529BA}" type="datetimeFigureOut">
              <a:rPr lang="en-US" smtClean="0"/>
              <a:t>2026-09-30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C0A8827-8173-478E-8027-31A736D41BAD}" type="slidenum">
              <a:rPr lang="en-US" smtClean="0"/>
              <a:t>‹#›</a:t>
            </a:fld>
            <a:endParaRPr lang="en-US"/>
          </a:p>
        </p:txBody>
      </p:sp>
    </p:spTree>
    <p:extLst>
      <p:ext uri="{BB962C8B-B14F-4D97-AF65-F5344CB8AC3E}">
        <p14:creationId xmlns:p14="http://schemas.microsoft.com/office/powerpoint/2010/main" val="312810741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71488" y="486836"/>
            <a:ext cx="5915025" cy="1767417"/>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471488" y="2434167"/>
            <a:ext cx="5915025" cy="580178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471488" y="8475136"/>
            <a:ext cx="1543050" cy="486833"/>
          </a:xfrm>
          <a:prstGeom prst="rect">
            <a:avLst/>
          </a:prstGeom>
        </p:spPr>
        <p:txBody>
          <a:bodyPr vert="horz" lIns="91440" tIns="45720" rIns="91440" bIns="45720" rtlCol="0" anchor="ctr"/>
          <a:lstStyle>
            <a:lvl1pPr algn="l">
              <a:defRPr sz="900">
                <a:solidFill>
                  <a:schemeClr val="tx1">
                    <a:tint val="82000"/>
                  </a:schemeClr>
                </a:solidFill>
              </a:defRPr>
            </a:lvl1pPr>
          </a:lstStyle>
          <a:p>
            <a:fld id="{8A423862-3F52-459D-BB97-400A2FF529BA}" type="datetimeFigureOut">
              <a:rPr lang="en-US" smtClean="0"/>
              <a:t>2026-09-30</a:t>
            </a:fld>
            <a:endParaRPr lang="en-US"/>
          </a:p>
        </p:txBody>
      </p:sp>
      <p:sp>
        <p:nvSpPr>
          <p:cNvPr id="5" name="Footer Placeholder 4"/>
          <p:cNvSpPr>
            <a:spLocks noGrp="1"/>
          </p:cNvSpPr>
          <p:nvPr>
            <p:ph type="ftr" sz="quarter" idx="3"/>
          </p:nvPr>
        </p:nvSpPr>
        <p:spPr>
          <a:xfrm>
            <a:off x="2271713" y="8475136"/>
            <a:ext cx="2314575" cy="486833"/>
          </a:xfrm>
          <a:prstGeom prst="rect">
            <a:avLst/>
          </a:prstGeom>
        </p:spPr>
        <p:txBody>
          <a:bodyPr vert="horz" lIns="91440" tIns="45720" rIns="91440" bIns="45720" rtlCol="0" anchor="ctr"/>
          <a:lstStyle>
            <a:lvl1pPr algn="ctr">
              <a:defRPr sz="9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4843463" y="8475136"/>
            <a:ext cx="1543050" cy="486833"/>
          </a:xfrm>
          <a:prstGeom prst="rect">
            <a:avLst/>
          </a:prstGeom>
        </p:spPr>
        <p:txBody>
          <a:bodyPr vert="horz" lIns="91440" tIns="45720" rIns="91440" bIns="45720" rtlCol="0" anchor="ctr"/>
          <a:lstStyle>
            <a:lvl1pPr algn="r">
              <a:defRPr sz="900">
                <a:solidFill>
                  <a:schemeClr val="tx1">
                    <a:tint val="82000"/>
                  </a:schemeClr>
                </a:solidFill>
              </a:defRPr>
            </a:lvl1pPr>
          </a:lstStyle>
          <a:p>
            <a:fld id="{6C0A8827-8173-478E-8027-31A736D41BAD}" type="slidenum">
              <a:rPr lang="en-US" smtClean="0"/>
              <a:t>‹#›</a:t>
            </a:fld>
            <a:endParaRPr lang="en-US"/>
          </a:p>
        </p:txBody>
      </p:sp>
    </p:spTree>
    <p:extLst>
      <p:ext uri="{BB962C8B-B14F-4D97-AF65-F5344CB8AC3E}">
        <p14:creationId xmlns:p14="http://schemas.microsoft.com/office/powerpoint/2010/main" val="1625684383"/>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5" Type="http://schemas.microsoft.com/office/2007/relationships/hdphoto" Target="../media/hdphoto1.wdp"/><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2.xml"/><Relationship Id="rId4" Type="http://schemas.microsoft.com/office/2007/relationships/hdphoto" Target="../media/hdphoto2.wdp"/></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8B6D0C78-5C07-A24C-CB49-846D76F413A3}"/>
              </a:ext>
            </a:extLst>
          </p:cNvPr>
          <p:cNvPicPr>
            <a:picLocks noChangeAspect="1"/>
          </p:cNvPicPr>
          <p:nvPr/>
        </p:nvPicPr>
        <p:blipFill>
          <a:blip r:embed="rId2"/>
          <a:stretch>
            <a:fillRect/>
          </a:stretch>
        </p:blipFill>
        <p:spPr>
          <a:xfrm>
            <a:off x="0" y="-50334"/>
            <a:ext cx="6858000" cy="9179859"/>
          </a:xfrm>
          <a:prstGeom prst="rect">
            <a:avLst/>
          </a:prstGeom>
        </p:spPr>
      </p:pic>
      <p:sp>
        <p:nvSpPr>
          <p:cNvPr id="6" name="Rectangle 5">
            <a:extLst>
              <a:ext uri="{FF2B5EF4-FFF2-40B4-BE49-F238E27FC236}">
                <a16:creationId xmlns:a16="http://schemas.microsoft.com/office/drawing/2014/main" id="{D31DD1C7-5473-2C4F-0754-7812E59D9B27}"/>
              </a:ext>
            </a:extLst>
          </p:cNvPr>
          <p:cNvSpPr/>
          <p:nvPr/>
        </p:nvSpPr>
        <p:spPr>
          <a:xfrm>
            <a:off x="119542" y="500084"/>
            <a:ext cx="6618914" cy="796517"/>
          </a:xfrm>
          <a:prstGeom prst="rect">
            <a:avLst/>
          </a:prstGeom>
          <a:noFill/>
          <a:ln>
            <a:noFill/>
          </a:ln>
          <a:effectLst>
            <a:outerShdw blurRad="50800" dist="889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b="1" dirty="0">
                <a:gradFill flip="none" rotWithShape="1">
                  <a:gsLst>
                    <a:gs pos="0">
                      <a:schemeClr val="bg1">
                        <a:shade val="30000"/>
                        <a:satMod val="115000"/>
                      </a:schemeClr>
                    </a:gs>
                    <a:gs pos="50000">
                      <a:schemeClr val="bg1">
                        <a:shade val="67500"/>
                        <a:satMod val="115000"/>
                      </a:schemeClr>
                    </a:gs>
                    <a:gs pos="100000">
                      <a:schemeClr val="bg1">
                        <a:shade val="100000"/>
                        <a:satMod val="115000"/>
                      </a:schemeClr>
                    </a:gs>
                  </a:gsLst>
                  <a:lin ang="8100000" scaled="1"/>
                  <a:tileRect/>
                </a:gradFill>
                <a:effectLst>
                  <a:outerShdw blurRad="50800" dist="38100" dir="16200000" rotWithShape="0">
                    <a:prstClr val="black">
                      <a:alpha val="40000"/>
                    </a:prstClr>
                  </a:outerShdw>
                </a:effectLst>
                <a:latin typeface="Mongolian Baiti" panose="03000500000000000000" pitchFamily="66" charset="0"/>
                <a:ea typeface="ADLaM Display" panose="020F0502020204030204" pitchFamily="2" charset="0"/>
                <a:cs typeface="Mongolian Baiti" panose="03000500000000000000" pitchFamily="66" charset="0"/>
              </a:rPr>
              <a:t>Modern Front-End</a:t>
            </a:r>
          </a:p>
        </p:txBody>
      </p:sp>
      <p:pic>
        <p:nvPicPr>
          <p:cNvPr id="9" name="Picture 8">
            <a:extLst>
              <a:ext uri="{FF2B5EF4-FFF2-40B4-BE49-F238E27FC236}">
                <a16:creationId xmlns:a16="http://schemas.microsoft.com/office/drawing/2014/main" id="{1A9379B9-0BB4-2D63-AACB-BED1574B0D03}"/>
              </a:ext>
            </a:extLst>
          </p:cNvPr>
          <p:cNvPicPr>
            <a:picLocks noChangeAspect="1"/>
          </p:cNvPicPr>
          <p:nvPr/>
        </p:nvPicPr>
        <p:blipFill>
          <a:blip r:embed="rId3"/>
          <a:stretch>
            <a:fillRect/>
          </a:stretch>
        </p:blipFill>
        <p:spPr>
          <a:xfrm>
            <a:off x="5819862" y="8145709"/>
            <a:ext cx="796517" cy="796517"/>
          </a:xfrm>
          <a:prstGeom prst="rect">
            <a:avLst/>
          </a:prstGeom>
        </p:spPr>
      </p:pic>
      <p:sp>
        <p:nvSpPr>
          <p:cNvPr id="10" name="Rectangle 9">
            <a:extLst>
              <a:ext uri="{FF2B5EF4-FFF2-40B4-BE49-F238E27FC236}">
                <a16:creationId xmlns:a16="http://schemas.microsoft.com/office/drawing/2014/main" id="{B3B32837-3693-EE92-907E-7074CFDAF9CA}"/>
              </a:ext>
            </a:extLst>
          </p:cNvPr>
          <p:cNvSpPr/>
          <p:nvPr/>
        </p:nvSpPr>
        <p:spPr>
          <a:xfrm>
            <a:off x="1458635" y="7271975"/>
            <a:ext cx="3940728" cy="771787"/>
          </a:xfrm>
          <a:prstGeom prst="rect">
            <a:avLst/>
          </a:prstGeom>
          <a:noFill/>
          <a:ln>
            <a:noFill/>
          </a:ln>
          <a:effectLst>
            <a:outerShdw blurRad="50800" dist="889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r>
              <a:rPr lang="en-US" b="1" dirty="0">
                <a:gradFill flip="none" rotWithShape="1">
                  <a:gsLst>
                    <a:gs pos="0">
                      <a:schemeClr val="lt1">
                        <a:shade val="30000"/>
                        <a:satMod val="115000"/>
                      </a:schemeClr>
                    </a:gs>
                    <a:gs pos="50000">
                      <a:schemeClr val="lt1">
                        <a:shade val="67500"/>
                        <a:satMod val="115000"/>
                      </a:schemeClr>
                    </a:gs>
                    <a:gs pos="100000">
                      <a:schemeClr val="lt1">
                        <a:shade val="100000"/>
                        <a:satMod val="115000"/>
                      </a:schemeClr>
                    </a:gs>
                  </a:gsLst>
                  <a:lin ang="8100000" scaled="1"/>
                  <a:tileRect/>
                </a:gradFill>
                <a:effectLst>
                  <a:innerShdw blurRad="63500" dist="50800" dir="16200000">
                    <a:prstClr val="black">
                      <a:alpha val="50000"/>
                    </a:prstClr>
                  </a:innerShdw>
                </a:effectLst>
                <a:latin typeface="Bookman Old Style" panose="02050604050505020204" pitchFamily="18" charset="0"/>
                <a:cs typeface="Posterama" panose="020B0504020200020000" pitchFamily="34" charset="0"/>
              </a:rPr>
              <a:t>From Fundamentals to Production Architecture</a:t>
            </a:r>
            <a:endParaRPr lang="en-US" sz="2000" b="1" dirty="0">
              <a:gradFill flip="none" rotWithShape="1">
                <a:gsLst>
                  <a:gs pos="0">
                    <a:schemeClr val="lt1">
                      <a:shade val="30000"/>
                      <a:satMod val="115000"/>
                    </a:schemeClr>
                  </a:gs>
                  <a:gs pos="50000">
                    <a:schemeClr val="lt1">
                      <a:shade val="67500"/>
                      <a:satMod val="115000"/>
                    </a:schemeClr>
                  </a:gs>
                  <a:gs pos="100000">
                    <a:schemeClr val="lt1">
                      <a:shade val="100000"/>
                      <a:satMod val="115000"/>
                    </a:schemeClr>
                  </a:gs>
                </a:gsLst>
                <a:lin ang="8100000" scaled="1"/>
                <a:tileRect/>
              </a:gradFill>
              <a:effectLst>
                <a:innerShdw blurRad="63500" dist="50800" dir="16200000">
                  <a:prstClr val="black">
                    <a:alpha val="50000"/>
                  </a:prstClr>
                </a:innerShdw>
              </a:effectLst>
              <a:latin typeface="Bookman Old Style" panose="02050604050505020204" pitchFamily="18" charset="0"/>
              <a:cs typeface="Posterama" panose="020B0504020200020000" pitchFamily="34" charset="0"/>
            </a:endParaRPr>
          </a:p>
        </p:txBody>
      </p:sp>
      <p:sp>
        <p:nvSpPr>
          <p:cNvPr id="11" name="Rectangle 10">
            <a:extLst>
              <a:ext uri="{FF2B5EF4-FFF2-40B4-BE49-F238E27FC236}">
                <a16:creationId xmlns:a16="http://schemas.microsoft.com/office/drawing/2014/main" id="{D109A51C-014F-5816-715A-87D1BD5B6EED}"/>
              </a:ext>
            </a:extLst>
          </p:cNvPr>
          <p:cNvSpPr/>
          <p:nvPr/>
        </p:nvSpPr>
        <p:spPr>
          <a:xfrm>
            <a:off x="1399912" y="8088138"/>
            <a:ext cx="3940728" cy="771787"/>
          </a:xfrm>
          <a:prstGeom prst="rect">
            <a:avLst/>
          </a:prstGeom>
          <a:noFill/>
          <a:ln>
            <a:noFill/>
          </a:ln>
          <a:effectLst>
            <a:outerShdw blurRad="50800" dist="889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r>
              <a:rPr lang="en-US" sz="2000" dirty="0">
                <a:gradFill flip="none" rotWithShape="1">
                  <a:gsLst>
                    <a:gs pos="0">
                      <a:schemeClr val="lt1">
                        <a:shade val="30000"/>
                        <a:satMod val="115000"/>
                      </a:schemeClr>
                    </a:gs>
                    <a:gs pos="50000">
                      <a:schemeClr val="lt1">
                        <a:shade val="67500"/>
                        <a:satMod val="115000"/>
                      </a:schemeClr>
                    </a:gs>
                    <a:gs pos="100000">
                      <a:schemeClr val="lt1">
                        <a:shade val="100000"/>
                        <a:satMod val="115000"/>
                      </a:schemeClr>
                    </a:gs>
                  </a:gsLst>
                  <a:lin ang="8100000" scaled="1"/>
                  <a:tileRect/>
                </a:gradFill>
                <a:effectLst>
                  <a:innerShdw blurRad="63500" dist="50800" dir="16200000">
                    <a:prstClr val="black">
                      <a:alpha val="50000"/>
                    </a:prstClr>
                  </a:innerShdw>
                </a:effectLst>
                <a:latin typeface="Bookman Old Style" panose="02050604050505020204" pitchFamily="18" charset="0"/>
                <a:cs typeface="Posterama" panose="020B0504020200020000" pitchFamily="34" charset="0"/>
              </a:rPr>
              <a:t>by Polla Fattah</a:t>
            </a:r>
          </a:p>
          <a:p>
            <a:pPr lvl="0" algn="ctr"/>
            <a:r>
              <a:rPr lang="en-US" sz="2000" dirty="0">
                <a:gradFill flip="none" rotWithShape="1">
                  <a:gsLst>
                    <a:gs pos="0">
                      <a:schemeClr val="lt1">
                        <a:shade val="30000"/>
                        <a:satMod val="115000"/>
                      </a:schemeClr>
                    </a:gs>
                    <a:gs pos="50000">
                      <a:schemeClr val="lt1">
                        <a:shade val="67500"/>
                        <a:satMod val="115000"/>
                      </a:schemeClr>
                    </a:gs>
                    <a:gs pos="100000">
                      <a:schemeClr val="lt1">
                        <a:shade val="100000"/>
                        <a:satMod val="115000"/>
                      </a:schemeClr>
                    </a:gs>
                  </a:gsLst>
                  <a:lin ang="8100000" scaled="1"/>
                  <a:tileRect/>
                </a:gradFill>
                <a:effectLst>
                  <a:innerShdw blurRad="63500" dist="50800" dir="16200000">
                    <a:prstClr val="black">
                      <a:alpha val="50000"/>
                    </a:prstClr>
                  </a:innerShdw>
                </a:effectLst>
                <a:latin typeface="Bookman Old Style" panose="02050604050505020204" pitchFamily="18" charset="0"/>
                <a:cs typeface="Posterama" panose="020B0504020200020000" pitchFamily="34" charset="0"/>
              </a:rPr>
              <a:t>and Collection of LLMs</a:t>
            </a:r>
          </a:p>
        </p:txBody>
      </p:sp>
      <p:sp>
        <p:nvSpPr>
          <p:cNvPr id="19" name="Rectangle 18">
            <a:extLst>
              <a:ext uri="{FF2B5EF4-FFF2-40B4-BE49-F238E27FC236}">
                <a16:creationId xmlns:a16="http://schemas.microsoft.com/office/drawing/2014/main" id="{774805FA-C0BB-1924-387C-7FB1937F8F8E}"/>
              </a:ext>
            </a:extLst>
          </p:cNvPr>
          <p:cNvSpPr/>
          <p:nvPr/>
        </p:nvSpPr>
        <p:spPr>
          <a:xfrm flipV="1">
            <a:off x="1963151" y="8062969"/>
            <a:ext cx="2814249" cy="9144"/>
          </a:xfrm>
          <a:prstGeom prst="rect">
            <a:avLst/>
          </a:prstGeom>
          <a:gradFill flip="none" rotWithShape="1">
            <a:gsLst>
              <a:gs pos="100000">
                <a:srgbClr val="1E272E"/>
              </a:gs>
              <a:gs pos="0">
                <a:srgbClr val="1B212A"/>
              </a:gs>
              <a:gs pos="39000">
                <a:schemeClr val="bg1">
                  <a:shade val="67500"/>
                  <a:satMod val="115000"/>
                </a:schemeClr>
              </a:gs>
              <a:gs pos="66000">
                <a:schemeClr val="bg1">
                  <a:shade val="100000"/>
                  <a:satMod val="115000"/>
                </a:schemeClr>
              </a:gs>
            </a:gsLst>
            <a:lin ang="0" scaled="0"/>
            <a:tileRect/>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600" b="1" dirty="0">
              <a:ln/>
              <a:solidFill>
                <a:srgbClr val="1E272E"/>
              </a:solidFill>
              <a:effectLst>
                <a:outerShdw blurRad="38100" dist="19050" dir="2700000" algn="tl" rotWithShape="0">
                  <a:schemeClr val="dk1">
                    <a:lumMod val="50000"/>
                    <a:alpha val="40000"/>
                  </a:schemeClr>
                </a:outerShdw>
              </a:effectLst>
              <a:latin typeface="Mongolian Baiti" panose="03000500000000000000" pitchFamily="66" charset="0"/>
              <a:ea typeface="ADLaM Display" panose="020F0502020204030204" pitchFamily="2" charset="0"/>
              <a:cs typeface="Mongolian Baiti" panose="03000500000000000000" pitchFamily="66" charset="0"/>
            </a:endParaRPr>
          </a:p>
        </p:txBody>
      </p:sp>
      <p:pic>
        <p:nvPicPr>
          <p:cNvPr id="21" name="Picture 20">
            <a:extLst>
              <a:ext uri="{FF2B5EF4-FFF2-40B4-BE49-F238E27FC236}">
                <a16:creationId xmlns:a16="http://schemas.microsoft.com/office/drawing/2014/main" id="{388B14FA-021B-A5F6-7C88-D9AB347D84BB}"/>
              </a:ext>
            </a:extLst>
          </p:cNvPr>
          <p:cNvPicPr>
            <a:picLocks noChangeAspect="1"/>
          </p:cNvPicPr>
          <p:nvPr/>
        </p:nvPicPr>
        <p:blipFill>
          <a:blip r:embed="rId4">
            <a:extLst>
              <a:ext uri="{BEBA8EAE-BF5A-486C-A8C5-ECC9F3942E4B}">
                <a14:imgProps xmlns:a14="http://schemas.microsoft.com/office/drawing/2010/main">
                  <a14:imgLayer r:embed="rId5">
                    <a14:imgEffect>
                      <a14:backgroundRemoval t="10000" b="90000" l="10000" r="90000"/>
                    </a14:imgEffect>
                  </a14:imgLayer>
                </a14:imgProps>
              </a:ext>
            </a:extLst>
          </a:blip>
          <a:stretch>
            <a:fillRect/>
          </a:stretch>
        </p:blipFill>
        <p:spPr>
          <a:xfrm>
            <a:off x="280261" y="1653832"/>
            <a:ext cx="5937859" cy="5937859"/>
          </a:xfrm>
          <a:prstGeom prst="rect">
            <a:avLst/>
          </a:prstGeom>
        </p:spPr>
      </p:pic>
      <p:sp>
        <p:nvSpPr>
          <p:cNvPr id="2" name="Rectangle 1">
            <a:extLst>
              <a:ext uri="{FF2B5EF4-FFF2-40B4-BE49-F238E27FC236}">
                <a16:creationId xmlns:a16="http://schemas.microsoft.com/office/drawing/2014/main" id="{A820E9CF-D657-21A5-F2D8-DD96BCDC40D3}"/>
              </a:ext>
            </a:extLst>
          </p:cNvPr>
          <p:cNvSpPr/>
          <p:nvPr/>
        </p:nvSpPr>
        <p:spPr>
          <a:xfrm>
            <a:off x="1202771" y="1372801"/>
            <a:ext cx="4353886" cy="562062"/>
          </a:xfrm>
          <a:prstGeom prst="rect">
            <a:avLst/>
          </a:prstGeom>
          <a:gradFill flip="none" rotWithShape="1">
            <a:gsLst>
              <a:gs pos="100000">
                <a:srgbClr val="1E272E"/>
              </a:gs>
              <a:gs pos="0">
                <a:srgbClr val="1B212A"/>
              </a:gs>
              <a:gs pos="39000">
                <a:schemeClr val="bg1">
                  <a:shade val="67500"/>
                  <a:satMod val="115000"/>
                </a:schemeClr>
              </a:gs>
              <a:gs pos="66000">
                <a:schemeClr val="bg1">
                  <a:shade val="100000"/>
                  <a:satMod val="115000"/>
                </a:schemeClr>
              </a:gs>
            </a:gsLst>
            <a:lin ang="0" scaled="0"/>
            <a:tileRect/>
          </a:gradFill>
          <a:ln>
            <a:noFill/>
          </a:ln>
          <a:effectLst>
            <a:outerShdw blurRad="50800" dist="1143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US" sz="2800" b="1" dirty="0">
                <a:ln/>
                <a:solidFill>
                  <a:srgbClr val="1E272E"/>
                </a:solidFill>
                <a:effectLst>
                  <a:outerShdw blurRad="38100" dist="19050" dir="2700000" algn="tl" rotWithShape="0">
                    <a:schemeClr val="dk1">
                      <a:lumMod val="50000"/>
                      <a:alpha val="40000"/>
                    </a:schemeClr>
                  </a:outerShdw>
                </a:effectLst>
                <a:latin typeface="Mongolian Baiti" panose="03000500000000000000" pitchFamily="66" charset="0"/>
                <a:ea typeface="ADLaM Display" panose="020F0502020204030204" pitchFamily="2" charset="0"/>
                <a:cs typeface="Mongolian Baiti" panose="03000500000000000000" pitchFamily="66" charset="0"/>
              </a:rPr>
              <a:t>ENGINEERING</a:t>
            </a:r>
          </a:p>
        </p:txBody>
      </p:sp>
    </p:spTree>
    <p:extLst>
      <p:ext uri="{BB962C8B-B14F-4D97-AF65-F5344CB8AC3E}">
        <p14:creationId xmlns:p14="http://schemas.microsoft.com/office/powerpoint/2010/main" val="2828554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F52ED9D7-200B-C157-1C8A-15873D024AEB}"/>
              </a:ext>
            </a:extLst>
          </p:cNvPr>
          <p:cNvPicPr>
            <a:picLocks noChangeAspect="1"/>
          </p:cNvPicPr>
          <p:nvPr/>
        </p:nvPicPr>
        <p:blipFill>
          <a:blip r:embed="rId2"/>
          <a:stretch>
            <a:fillRect/>
          </a:stretch>
        </p:blipFill>
        <p:spPr>
          <a:xfrm>
            <a:off x="0" y="-50334"/>
            <a:ext cx="6858000" cy="9179859"/>
          </a:xfrm>
          <a:prstGeom prst="rect">
            <a:avLst/>
          </a:prstGeom>
        </p:spPr>
      </p:pic>
      <p:pic>
        <p:nvPicPr>
          <p:cNvPr id="7" name="Picture 6">
            <a:extLst>
              <a:ext uri="{FF2B5EF4-FFF2-40B4-BE49-F238E27FC236}">
                <a16:creationId xmlns:a16="http://schemas.microsoft.com/office/drawing/2014/main" id="{CA204BE5-4446-3E4F-4D26-495050DF0B43}"/>
              </a:ext>
            </a:extLst>
          </p:cNvPr>
          <p:cNvPicPr>
            <a:picLocks noChangeAspect="1"/>
          </p:cNvPicPr>
          <p:nvPr/>
        </p:nvPicPr>
        <p:blipFill>
          <a:blip r:embed="rId3">
            <a:biLevel thresh="25000"/>
            <a:extLst>
              <a:ext uri="{BEBA8EAE-BF5A-486C-A8C5-ECC9F3942E4B}">
                <a14:imgProps xmlns:a14="http://schemas.microsoft.com/office/drawing/2010/main">
                  <a14:imgLayer r:embed="rId4">
                    <a14:imgEffect>
                      <a14:backgroundRemoval t="4068" b="90000" l="10000" r="90000">
                        <a14:foregroundMark x1="55085" y1="32203" x2="55085" y2="32203"/>
                        <a14:foregroundMark x1="48136" y1="7966" x2="48136" y2="7966"/>
                        <a14:foregroundMark x1="44068" y1="60339" x2="44068" y2="60339"/>
                        <a14:foregroundMark x1="41864" y1="74068" x2="41864" y2="74068"/>
                        <a14:foregroundMark x1="45763" y1="88136" x2="45763" y2="88136"/>
                        <a14:foregroundMark x1="43729" y1="4068" x2="43729" y2="4068"/>
                      </a14:backgroundRemoval>
                    </a14:imgEffect>
                  </a14:imgLayer>
                </a14:imgProps>
              </a:ext>
            </a:extLst>
          </a:blip>
          <a:stretch>
            <a:fillRect/>
          </a:stretch>
        </p:blipFill>
        <p:spPr>
          <a:xfrm>
            <a:off x="2882666" y="7248086"/>
            <a:ext cx="1092666" cy="1092666"/>
          </a:xfrm>
          <a:prstGeom prst="rect">
            <a:avLst/>
          </a:prstGeom>
        </p:spPr>
      </p:pic>
      <p:sp>
        <p:nvSpPr>
          <p:cNvPr id="9" name="Rectangle 8">
            <a:extLst>
              <a:ext uri="{FF2B5EF4-FFF2-40B4-BE49-F238E27FC236}">
                <a16:creationId xmlns:a16="http://schemas.microsoft.com/office/drawing/2014/main" id="{B68E1E5C-9CC8-6241-EA00-A753BB0F0175}"/>
              </a:ext>
            </a:extLst>
          </p:cNvPr>
          <p:cNvSpPr/>
          <p:nvPr/>
        </p:nvSpPr>
        <p:spPr>
          <a:xfrm>
            <a:off x="1458636" y="8122742"/>
            <a:ext cx="3940728" cy="771787"/>
          </a:xfrm>
          <a:prstGeom prst="rect">
            <a:avLst/>
          </a:prstGeom>
          <a:noFill/>
          <a:ln>
            <a:noFill/>
          </a:ln>
          <a:effectLst>
            <a:outerShdw blurRad="50800" dist="889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r>
              <a:rPr lang="en-US" sz="1600" dirty="0">
                <a:solidFill>
                  <a:schemeClr val="bg1"/>
                </a:solidFill>
                <a:effectLst>
                  <a:innerShdw blurRad="63500" dist="50800" dir="16200000">
                    <a:prstClr val="black">
                      <a:alpha val="50000"/>
                    </a:prstClr>
                  </a:innerShdw>
                </a:effectLst>
                <a:latin typeface="Bookman Old Style" panose="02050604050505020204" pitchFamily="18" charset="0"/>
                <a:cs typeface="Posterama" panose="020B0504020200020000" pitchFamily="34" charset="0"/>
              </a:rPr>
              <a:t>by Polla Fattah</a:t>
            </a:r>
          </a:p>
          <a:p>
            <a:pPr lvl="0" algn="ctr"/>
            <a:r>
              <a:rPr lang="en-US" sz="1600" dirty="0">
                <a:solidFill>
                  <a:schemeClr val="bg1"/>
                </a:solidFill>
                <a:effectLst>
                  <a:innerShdw blurRad="63500" dist="50800" dir="16200000">
                    <a:prstClr val="black">
                      <a:alpha val="50000"/>
                    </a:prstClr>
                  </a:innerShdw>
                </a:effectLst>
                <a:latin typeface="Bookman Old Style" panose="02050604050505020204" pitchFamily="18" charset="0"/>
                <a:cs typeface="Posterama" panose="020B0504020200020000" pitchFamily="34" charset="0"/>
              </a:rPr>
              <a:t>and Collection of LLMs</a:t>
            </a:r>
          </a:p>
        </p:txBody>
      </p:sp>
      <p:sp>
        <p:nvSpPr>
          <p:cNvPr id="11" name="Rectangle 10">
            <a:extLst>
              <a:ext uri="{FF2B5EF4-FFF2-40B4-BE49-F238E27FC236}">
                <a16:creationId xmlns:a16="http://schemas.microsoft.com/office/drawing/2014/main" id="{0892B503-2C80-FA6C-51BD-E0C1C04F93A1}"/>
              </a:ext>
            </a:extLst>
          </p:cNvPr>
          <p:cNvSpPr/>
          <p:nvPr/>
        </p:nvSpPr>
        <p:spPr>
          <a:xfrm>
            <a:off x="434126" y="314641"/>
            <a:ext cx="5989739" cy="796517"/>
          </a:xfrm>
          <a:prstGeom prst="rect">
            <a:avLst/>
          </a:prstGeom>
          <a:noFill/>
          <a:ln>
            <a:noFill/>
          </a:ln>
          <a:effectLst>
            <a:outerShdw blurRad="50800" dist="889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scene3d>
              <a:camera prst="orthographicFront"/>
              <a:lightRig rig="threePt" dir="t"/>
            </a:scene3d>
            <a:sp3d extrusionH="57150">
              <a:bevelT h="25400" prst="softRound"/>
            </a:sp3d>
          </a:bodyPr>
          <a:lstStyle/>
          <a:p>
            <a:pPr algn="ctr"/>
            <a:r>
              <a:rPr lang="en-US" sz="2890" b="1" spc="-300" dirty="0">
                <a:solidFill>
                  <a:schemeClr val="bg1"/>
                </a:solidFill>
                <a:latin typeface="Yu Mincho Light" panose="02020300000000000000" pitchFamily="18" charset="-128"/>
                <a:ea typeface="Yu Mincho Light" panose="02020300000000000000" pitchFamily="18" charset="-128"/>
                <a:cs typeface="Mongolian Baiti" panose="03000500000000000000" pitchFamily="66" charset="0"/>
              </a:rPr>
              <a:t>Modern Front-End Engineering</a:t>
            </a:r>
          </a:p>
        </p:txBody>
      </p:sp>
      <p:sp>
        <p:nvSpPr>
          <p:cNvPr id="13" name="TextBox 12">
            <a:extLst>
              <a:ext uri="{FF2B5EF4-FFF2-40B4-BE49-F238E27FC236}">
                <a16:creationId xmlns:a16="http://schemas.microsoft.com/office/drawing/2014/main" id="{5B167A28-9344-9C45-565D-CC2DADCD1B15}"/>
              </a:ext>
            </a:extLst>
          </p:cNvPr>
          <p:cNvSpPr txBox="1"/>
          <p:nvPr/>
        </p:nvSpPr>
        <p:spPr>
          <a:xfrm>
            <a:off x="241182" y="1005872"/>
            <a:ext cx="6375629" cy="6078587"/>
          </a:xfrm>
          <a:prstGeom prst="rect">
            <a:avLst/>
          </a:prstGeom>
          <a:noFill/>
        </p:spPr>
        <p:txBody>
          <a:bodyPr wrap="square">
            <a:spAutoFit/>
          </a:bodyPr>
          <a:lstStyle/>
          <a:p>
            <a:pPr algn="just"/>
            <a:r>
              <a:rPr lang="en-US" sz="1600" dirty="0">
                <a:solidFill>
                  <a:schemeClr val="bg1"/>
                </a:solidFill>
              </a:rPr>
              <a:t>In today’s hyper-scale web ecosystem, client-side software is no longer a collection of static documents and lightweight scripts; it is a distributed, fault-tolerant, high-performance application platform running on billions of heterogeneous devices.</a:t>
            </a:r>
          </a:p>
          <a:p>
            <a:pPr algn="just"/>
            <a:endParaRPr lang="en-US" sz="1600" dirty="0">
              <a:solidFill>
                <a:schemeClr val="bg1"/>
              </a:solidFill>
            </a:endParaRPr>
          </a:p>
          <a:p>
            <a:pPr algn="just"/>
            <a:r>
              <a:rPr lang="en-US" sz="1600" dirty="0">
                <a:solidFill>
                  <a:schemeClr val="bg1"/>
                </a:solidFill>
              </a:rPr>
              <a:t>Written by veteran software architect and researcher Dr. Polla Abdulhamid Fattah, </a:t>
            </a:r>
            <a:r>
              <a:rPr lang="en-US" sz="1600" i="1" dirty="0">
                <a:solidFill>
                  <a:schemeClr val="bg1"/>
                </a:solidFill>
              </a:rPr>
              <a:t>Modern Front-End Engineering</a:t>
            </a:r>
            <a:r>
              <a:rPr lang="en-US" sz="1600" dirty="0">
                <a:solidFill>
                  <a:schemeClr val="bg1"/>
                </a:solidFill>
              </a:rPr>
              <a:t> bridges the chasm between raw computer science fundamentals and mission-critical production systems. </a:t>
            </a:r>
          </a:p>
          <a:p>
            <a:pPr algn="just"/>
            <a:endParaRPr lang="en-US" sz="1600" dirty="0">
              <a:solidFill>
                <a:schemeClr val="bg1"/>
              </a:solidFill>
            </a:endParaRPr>
          </a:p>
          <a:p>
            <a:pPr algn="just"/>
            <a:r>
              <a:rPr lang="en-US" sz="1600" dirty="0">
                <a:solidFill>
                  <a:schemeClr val="bg1"/>
                </a:solidFill>
              </a:rPr>
              <a:t>Beginning with low-level browser mechanics, the V8 compilation pipeline, layout trees, event loops, and memory models, this book guides you through modern CSS architecture, typed runtime contracts, reactivity primitives, and rendering topologies (SSR, SSG, streaming RSC). </a:t>
            </a:r>
          </a:p>
          <a:p>
            <a:pPr algn="just"/>
            <a:endParaRPr lang="en-US" sz="1600" dirty="0">
              <a:solidFill>
                <a:schemeClr val="bg1"/>
              </a:solidFill>
            </a:endParaRPr>
          </a:p>
          <a:p>
            <a:pPr algn="just"/>
            <a:r>
              <a:rPr lang="en-US" sz="1600" dirty="0">
                <a:solidFill>
                  <a:schemeClr val="bg1"/>
                </a:solidFill>
              </a:rPr>
              <a:t>You will explore client-side distributed persistence, real-time sync protocols, offensive security models, micro-frontends, Core Web Vitals performance engineering, and automated resilience testing.</a:t>
            </a:r>
          </a:p>
          <a:p>
            <a:pPr algn="just"/>
            <a:endParaRPr lang="en-US" sz="1600" dirty="0">
              <a:solidFill>
                <a:schemeClr val="bg1"/>
              </a:solidFill>
            </a:endParaRPr>
          </a:p>
          <a:p>
            <a:pPr algn="just"/>
            <a:r>
              <a:rPr lang="en-US" sz="1600" dirty="0">
                <a:solidFill>
                  <a:schemeClr val="bg1"/>
                </a:solidFill>
              </a:rPr>
              <a:t>Whether you are designing resilient design systems for multi-team organizations or optimizing milliseconds off First Content, this book provides the mental models, architectural trade-off frameworks, and production patterns required to engineer resilient web applications.</a:t>
            </a:r>
          </a:p>
          <a:p>
            <a:pPr marL="0" marR="0" indent="0" algn="l">
              <a:buNone/>
            </a:pPr>
            <a:endParaRPr lang="en-US" sz="500" b="0" i="0" dirty="0">
              <a:solidFill>
                <a:schemeClr val="bg1"/>
              </a:solidFill>
              <a:effectLst/>
              <a:latin typeface="Segoe WPC"/>
            </a:endParaRPr>
          </a:p>
        </p:txBody>
      </p:sp>
    </p:spTree>
    <p:extLst>
      <p:ext uri="{BB962C8B-B14F-4D97-AF65-F5344CB8AC3E}">
        <p14:creationId xmlns:p14="http://schemas.microsoft.com/office/powerpoint/2010/main" val="1315964501"/>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169</TotalTime>
  <Words>205</Words>
  <Application>Microsoft Office PowerPoint</Application>
  <PresentationFormat>On-screen Show (4:3)</PresentationFormat>
  <Paragraphs>17</Paragraphs>
  <Slides>2</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vt:i4>
      </vt:variant>
    </vt:vector>
  </HeadingPairs>
  <TitlesOfParts>
    <vt:vector size="10" baseType="lpstr">
      <vt:lpstr>Yu Mincho Light</vt:lpstr>
      <vt:lpstr>Aptos</vt:lpstr>
      <vt:lpstr>Aptos Display</vt:lpstr>
      <vt:lpstr>Arial</vt:lpstr>
      <vt:lpstr>Bookman Old Style</vt:lpstr>
      <vt:lpstr>Mongolian Baiti</vt:lpstr>
      <vt:lpstr>Segoe WPC</vt:lpstr>
      <vt:lpstr>Office Theme</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Polla Abdulhamid Fattah</dc:creator>
  <cp:lastModifiedBy>Polla Abdulhamid Fattah</cp:lastModifiedBy>
  <cp:revision>14</cp:revision>
  <dcterms:created xsi:type="dcterms:W3CDTF">2026-09-26T18:19:49Z</dcterms:created>
  <dcterms:modified xsi:type="dcterms:W3CDTF">2026-09-30T19:29:15Z</dcterms:modified>
</cp:coreProperties>
</file>